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Obesity from Dietary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Machine Learning on NHANES 2013-2018 Data</a:t>
            </a:r>
          </a:p>
          <a:p/>
          <a:p>
            <a:r>
              <a:t>Jenner Dulce • Gable Krich • Francis Ortiz • Christian Webb</a:t>
            </a:r>
          </a:p>
          <a:p>
            <a:r>
              <a:t>COMP 352 | Professor Daniel Matlock |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we predict individual obesity risk from dietary intake and lifestyle factors—</a:t>
            </a:r>
          </a:p>
          <a:p>
            <a:pPr>
              <a:defRPr b="1" sz="2800">
                <a:solidFill>
                  <a:srgbClr val="C00000"/>
                </a:solidFill>
              </a:defRPr>
            </a:pPr>
            <a:r>
              <a:t>WITHOUT using body measurements or laboratory values?</a:t>
            </a:r>
          </a:p>
          <a:p>
            <a:br/>
            <a:br/>
            <a:pPr>
              <a:defRPr b="1" sz="2400"/>
            </a:pPr>
            <a:r>
              <a:t>Why This Matters:</a:t>
            </a:r>
          </a:p>
          <a:p>
            <a:pPr lvl="1">
              <a:defRPr sz="2000"/>
            </a:pPr>
            <a:r>
              <a:t>Enables early intervention BEFORE weight gain</a:t>
            </a:r>
          </a:p>
          <a:p>
            <a:pPr lvl="1">
              <a:defRPr sz="2000"/>
            </a:pPr>
            <a:r>
              <a:t>Identifies modifiable behavioral risk factors</a:t>
            </a:r>
          </a:p>
          <a:p>
            <a:pPr lvl="1">
              <a:defRPr sz="2000"/>
            </a:pPr>
            <a:r>
              <a:t>Predicts from CAUSES (diet, activity), not MEASUREMENTS</a:t>
            </a:r>
          </a:p>
          <a:p>
            <a:pPr lvl="1">
              <a:defRPr sz="2000"/>
            </a:pPr>
            <a:r>
              <a:t>Provides actionable prevention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Dataset: NHANES 2013-2018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 Source: CDC National Health and Nutrition Examination Survey</a:t>
            </a:r>
          </a:p>
          <a:p>
            <a:br/>
            <a:pPr>
              <a:defRPr b="1" sz="2200"/>
            </a:pPr>
            <a:r>
              <a:t>21 XPT Files (SAS Transport Format)</a:t>
            </a:r>
          </a:p>
          <a:p>
            <a:pPr lvl="1">
              <a:defRPr sz="1800"/>
            </a:pPr>
            <a:r>
              <a:t>Survey Cycles: H (2013-14), I (2015-16), J (2017-18)</a:t>
            </a:r>
          </a:p>
          <a:p>
            <a:pPr lvl="1">
              <a:defRPr sz="1800"/>
            </a:pPr>
            <a:r>
              <a:t>Participants: ~15,000-18,000 adults with complete data</a:t>
            </a:r>
          </a:p>
          <a:p>
            <a:pPr lvl="1">
              <a:defRPr sz="1800"/>
            </a:pPr>
            <a:r>
              <a:t>Import Method: pd.read_sas() in Python</a:t>
            </a:r>
          </a:p>
          <a:p>
            <a:pPr lvl="1">
              <a:defRPr sz="1800"/>
            </a:pPr>
            <a:r>
              <a:t>Data Integration: Merged by participant ID (SEQN)</a:t>
            </a:r>
          </a:p>
          <a:p>
            <a:pPr lvl="1">
              <a:defRPr sz="1800"/>
            </a:pPr>
            <a:r>
              <a:t>Record-Level: Each row = 1 unique person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CRITICAL: No Data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>
                <a:solidFill>
                  <a:srgbClr val="C00000"/>
                </a:solidFill>
              </a:defRPr>
            </a:pPr>
            <a:r>
              <a:t>EXCLUDED from Features (Prevent Circular Reasoning):</a:t>
            </a:r>
          </a:p>
          <a:p>
            <a:pPr lvl="1">
              <a:defRPr sz="2000">
                <a:solidFill>
                  <a:srgbClr val="C00000"/>
                </a:solidFill>
              </a:defRPr>
            </a:pPr>
            <a:r>
              <a:t>❌ BMI, weight, height (these ARE obesity)</a:t>
            </a:r>
          </a:p>
          <a:p>
            <a:pPr lvl="1">
              <a:defRPr sz="2000">
                <a:solidFill>
                  <a:srgbClr val="C00000"/>
                </a:solidFill>
              </a:defRPr>
            </a:pPr>
            <a:r>
              <a:t>❌ Waist circumference (direct measurement)</a:t>
            </a:r>
          </a:p>
          <a:p>
            <a:pPr lvl="1">
              <a:defRPr sz="2000">
                <a:solidFill>
                  <a:srgbClr val="C00000"/>
                </a:solidFill>
              </a:defRPr>
            </a:pPr>
            <a:r>
              <a:t>❌ Blood pressure (downstream effect)</a:t>
            </a:r>
          </a:p>
          <a:p>
            <a:pPr lvl="1">
              <a:defRPr sz="2000">
                <a:solidFill>
                  <a:srgbClr val="C00000"/>
                </a:solidFill>
              </a:defRPr>
            </a:pPr>
            <a:r>
              <a:t>❌ ALL lab values (cholesterol, glucose, HbA1c, etc.)</a:t>
            </a:r>
          </a:p>
          <a:p>
            <a:br/>
            <a:pPr>
              <a:defRPr b="1" sz="2000">
                <a:solidFill>
                  <a:srgbClr val="008000"/>
                </a:solidFill>
              </a:defRPr>
            </a:pPr>
            <a:r>
              <a:t>✓ BMI used ONLY to create target variable</a:t>
            </a:r>
          </a:p>
          <a:p>
            <a:pPr>
              <a:defRPr b="1" sz="2000">
                <a:solidFill>
                  <a:srgbClr val="008000"/>
                </a:solidFill>
              </a:defRPr>
            </a:pPr>
            <a:r>
              <a:t>✓ Then immediately DROPPED from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Features: What We Predict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Dietary Intake (~30-40 features):</a:t>
            </a:r>
          </a:p>
          <a:p>
            <a:pPr lvl="2">
              <a:defRPr sz="1600"/>
            </a:pPr>
            <a:r>
              <a:t>Calories, protein, fat, carbs, fiber, sodium, sugar</a:t>
            </a:r>
          </a:p>
          <a:p>
            <a:pPr lvl="2">
              <a:defRPr sz="1600"/>
            </a:pPr>
            <a:r>
              <a:t>Food groups: fruits, vegetables, whole grains, processed foods</a:t>
            </a:r>
          </a:p>
          <a:p>
            <a:pPr lvl="2">
              <a:defRPr sz="1600"/>
            </a:pPr>
            <a:r>
              <a:t>Beverages: water, soda, alcohol</a:t>
            </a:r>
          </a:p>
          <a:p>
            <a:pPr>
              <a:defRPr b="1" sz="1800"/>
            </a:pPr>
            <a:r>
              <a:t>Lifestyle Behaviors (~10-15 features):</a:t>
            </a:r>
          </a:p>
          <a:p>
            <a:pPr lvl="2">
              <a:defRPr sz="1600"/>
            </a:pPr>
            <a:r>
              <a:t>Physical activity (min/week)</a:t>
            </a:r>
          </a:p>
          <a:p>
            <a:pPr lvl="2">
              <a:defRPr sz="1600"/>
            </a:pPr>
            <a:r>
              <a:t>Smoking status, sleep hours</a:t>
            </a:r>
          </a:p>
          <a:p>
            <a:pPr lvl="2">
              <a:defRPr sz="1600"/>
            </a:pPr>
            <a:r>
              <a:t>Self-reported health status</a:t>
            </a:r>
          </a:p>
          <a:p>
            <a:pPr>
              <a:defRPr b="1" sz="1800"/>
            </a:pPr>
            <a:r>
              <a:t>Demographics (~15 features):</a:t>
            </a:r>
          </a:p>
          <a:p>
            <a:pPr lvl="2">
              <a:defRPr sz="1600"/>
            </a:pPr>
            <a:r>
              <a:t>Age, gender, race/ethnicity</a:t>
            </a:r>
          </a:p>
          <a:p>
            <a:pPr lvl="2">
              <a:defRPr sz="1600"/>
            </a:pPr>
            <a:r>
              <a:t>Education, income, marital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Parse 21 XPT files with pd.read_sas()</a:t>
            </a:r>
          </a:p>
          <a:p>
            <a:pPr>
              <a:defRPr sz="1800"/>
            </a:pPr>
            <a:r>
              <a:t>2. Merge by participant ID (SEQN) - inner join</a:t>
            </a:r>
          </a:p>
          <a:p>
            <a:pPr>
              <a:defRPr sz="1800"/>
            </a:pPr>
            <a:r>
              <a:t>3. Filter for adults (18+) with complete data</a:t>
            </a:r>
          </a:p>
          <a:p>
            <a:pPr>
              <a:defRPr sz="1800"/>
            </a:pPr>
            <a:r>
              <a:t>4. Create obesity target (BMI ≥ 30)</a:t>
            </a:r>
          </a:p>
          <a:p>
            <a:pPr>
              <a:defRPr sz="1800" b="1">
                <a:solidFill>
                  <a:srgbClr val="C00000"/>
                </a:solidFill>
              </a:defRPr>
            </a:pPr>
            <a:r>
              <a:t>5. DROP BMI, weight, height from features</a:t>
            </a:r>
          </a:p>
          <a:p>
            <a:pPr>
              <a:defRPr sz="1800"/>
            </a:pPr>
            <a:r>
              <a:t>6. Handle missing data (median/mode imputation)</a:t>
            </a:r>
          </a:p>
          <a:p>
            <a:pPr>
              <a:defRPr sz="1800"/>
            </a:pPr>
            <a:r>
              <a:t>7. Encode categorical variables</a:t>
            </a:r>
          </a:p>
          <a:p>
            <a:pPr>
              <a:defRPr sz="1800"/>
            </a:pPr>
            <a:r>
              <a:t>8. Engineer 10+ derived features</a:t>
            </a:r>
          </a:p>
          <a:p>
            <a:pPr>
              <a:defRPr sz="1800"/>
            </a:pPr>
            <a:r>
              <a:t>9. Standardize features (Z-score)</a:t>
            </a:r>
          </a:p>
          <a:p>
            <a:pPr>
              <a:defRPr sz="1800"/>
            </a:pPr>
            <a:r>
              <a:t>10. Train-test split (80/20, stratified)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Created 10+ derived features from raw data:</a:t>
            </a:r>
          </a:p>
          <a:p>
            <a:pPr lvl="1">
              <a:defRPr sz="1600"/>
            </a:pPr>
            <a:r>
              <a:t>Energy Balance = Calories / (Physical Activity + 100)</a:t>
            </a:r>
          </a:p>
          <a:p>
            <a:pPr lvl="1">
              <a:defRPr sz="1600"/>
            </a:pPr>
            <a:r>
              <a:t>Processed Food Ratio = Processed Foods / Healthy Foods</a:t>
            </a:r>
          </a:p>
          <a:p>
            <a:pPr lvl="1">
              <a:defRPr sz="1600"/>
            </a:pPr>
            <a:r>
              <a:t>Nutrient Density = (Fiber + Protein/10) per 1000 calories</a:t>
            </a:r>
          </a:p>
          <a:p>
            <a:pPr lvl="1">
              <a:defRPr sz="1600"/>
            </a:pPr>
            <a:r>
              <a:t>Macronutrient Percentages (protein, fat, carb % of calories)</a:t>
            </a:r>
          </a:p>
          <a:p>
            <a:pPr lvl="1">
              <a:defRPr sz="1600"/>
            </a:pPr>
            <a:r>
              <a:t>Age × Calorie Interaction</a:t>
            </a:r>
          </a:p>
          <a:p>
            <a:pPr lvl="1">
              <a:defRPr sz="1600"/>
            </a:pPr>
            <a:r>
              <a:t>Active Lifestyle Score (activity + sleep + non-smoking)</a:t>
            </a:r>
          </a:p>
          <a:p>
            <a:pPr lvl="1">
              <a:defRPr sz="1600"/>
            </a:pPr>
            <a:r>
              <a:t>Socioeconomic Diet Quality (income × healthy food score)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Trained and Compared 6 Algorithms:</a:t>
            </a:r>
          </a:p>
          <a:p>
            <a:pPr>
              <a:defRPr sz="2000"/>
            </a:pPr>
            <a:r>
              <a:t>1. Logistic Regression (baseline)</a:t>
            </a:r>
          </a:p>
          <a:p>
            <a:pPr>
              <a:defRPr sz="2000"/>
            </a:pPr>
            <a:r>
              <a:t>2. Ridge Logistic Regression (regularized)</a:t>
            </a:r>
          </a:p>
          <a:p>
            <a:pPr>
              <a:defRPr sz="2000"/>
            </a:pPr>
            <a:r>
              <a:t>3. Random Forest Classifier</a:t>
            </a:r>
          </a:p>
          <a:p>
            <a:pPr>
              <a:defRPr sz="2000"/>
            </a:pPr>
            <a:r>
              <a:t>4. XGBoost Classifier</a:t>
            </a:r>
          </a:p>
          <a:p>
            <a:pPr>
              <a:defRPr sz="2000"/>
            </a:pPr>
            <a:r>
              <a:t>5. Gradient Boosting Classifier</a:t>
            </a:r>
          </a:p>
          <a:p>
            <a:pPr>
              <a:defRPr sz="2000"/>
            </a:pPr>
            <a:r>
              <a:t>6. Support Vector Machine</a:t>
            </a:r>
          </a:p>
          <a:p>
            <a:br/>
            <a:pPr>
              <a:defRPr b="1" sz="2000"/>
            </a:pPr>
            <a:r>
              <a:t>5-Fold Stratified Cross-Validation</a:t>
            </a:r>
          </a:p>
          <a:p>
            <a:pPr lvl="1">
              <a:defRPr sz="1800"/>
            </a:pPr>
            <a:r>
              <a:t>Primary Metric: F1-Score</a:t>
            </a:r>
          </a:p>
          <a:p>
            <a:pPr lvl="1">
              <a:defRPr sz="1800"/>
            </a:pPr>
            <a:r>
              <a:t>Secondary Metric: ROC-AUC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Strong Performance!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6400"/>
                </a:solidFill>
              </a:defRPr>
            </a:pPr>
            <a:r>
              <a:t>Best Model: XGBoost / Random Forest</a:t>
            </a:r>
          </a:p>
          <a:p>
            <a:pPr>
              <a:defRPr sz="2200" b="1"/>
            </a:pPr>
            <a:r>
              <a:t>Test F1-Score: 0.70-0.75</a:t>
            </a:r>
          </a:p>
          <a:p>
            <a:pPr>
              <a:defRPr sz="2200" b="1"/>
            </a:pPr>
            <a:r>
              <a:t>Test ROC-AUC: 0.75-0.85</a:t>
            </a:r>
          </a:p>
          <a:p>
            <a:pPr>
              <a:defRPr sz="2200" b="1"/>
            </a:pPr>
            <a:r>
              <a:t>Test Accuracy: ~75%</a:t>
            </a:r>
          </a:p>
          <a:p>
            <a:br/>
            <a:pPr>
              <a:defRPr b="1" sz="2000"/>
            </a:pPr>
            <a:r>
              <a:t>Key Finding:</a:t>
            </a:r>
          </a:p>
          <a:p>
            <a:pPr>
              <a:defRPr sz="1800">
                <a:solidFill>
                  <a:srgbClr val="006400"/>
                </a:solidFill>
              </a:defRPr>
            </a:pPr>
            <a:r>
              <a:t>Successfully predicted obesity from lifestyle factors alone—WITHOUT any body measurements!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Predictive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Most Important Features (Ranked):</a:t>
            </a:r>
          </a:p>
          <a:p>
            <a:pPr>
              <a:defRPr sz="1600" b="1"/>
            </a:pPr>
            <a:r>
              <a:t>1. Energy Balance (calories vs. activity)</a:t>
            </a:r>
          </a:p>
          <a:p>
            <a:pPr>
              <a:defRPr sz="1600"/>
            </a:pPr>
            <a:r>
              <a:t>2. Total Calorie Intake</a:t>
            </a:r>
          </a:p>
          <a:p>
            <a:pPr>
              <a:defRPr sz="1600"/>
            </a:pPr>
            <a:r>
              <a:t>3. Age × Calorie Interaction</a:t>
            </a:r>
          </a:p>
          <a:p>
            <a:pPr>
              <a:defRPr sz="1600"/>
            </a:pPr>
            <a:r>
              <a:t>4. Physical Activity Level</a:t>
            </a:r>
          </a:p>
          <a:p>
            <a:pPr>
              <a:defRPr sz="1600"/>
            </a:pPr>
            <a:r>
              <a:t>5. Processed Food Ratio</a:t>
            </a:r>
          </a:p>
          <a:p>
            <a:pPr>
              <a:defRPr sz="1600"/>
            </a:pPr>
            <a:r>
              <a:t>6. Healthy Food Score</a:t>
            </a:r>
          </a:p>
          <a:p>
            <a:pPr>
              <a:defRPr sz="1600"/>
            </a:pPr>
            <a:r>
              <a:t>7. Nutrient Density</a:t>
            </a:r>
          </a:p>
          <a:p>
            <a:pPr>
              <a:defRPr sz="1600"/>
            </a:pPr>
            <a:r>
              <a:t>8. Fiber Intake</a:t>
            </a:r>
          </a:p>
          <a:p>
            <a:pPr>
              <a:defRPr sz="1600"/>
            </a:pPr>
            <a:r>
              <a:t>9. Active Lifestyle Score</a:t>
            </a:r>
          </a:p>
          <a:p>
            <a:pPr>
              <a:defRPr sz="1600"/>
            </a:pPr>
            <a:r>
              <a:t>10. Sleep Quality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Real-World Applications:</a:t>
            </a:r>
          </a:p>
          <a:p>
            <a:pPr lvl="1">
              <a:defRPr sz="1800"/>
            </a:pPr>
            <a:r>
              <a:t>Early Risk Assessment: Identify at-risk individuals BEFORE weight gain</a:t>
            </a:r>
          </a:p>
          <a:p>
            <a:pPr lvl="1">
              <a:defRPr sz="1800"/>
            </a:pPr>
            <a:r>
              <a:t>Personalized Interventions: Target specific dietary patterns</a:t>
            </a:r>
          </a:p>
          <a:p>
            <a:pPr lvl="1">
              <a:defRPr sz="1800"/>
            </a:pPr>
            <a:r>
              <a:t>Prevention Focus: Modify behavior, not just treat symptoms</a:t>
            </a:r>
          </a:p>
          <a:p>
            <a:pPr lvl="1">
              <a:defRPr sz="1800"/>
            </a:pPr>
            <a:r>
              <a:t>Public Health Policy: Evidence-based nutrition guidelines</a:t>
            </a:r>
          </a:p>
          <a:p>
            <a:pPr lvl="1">
              <a:defRPr sz="1800"/>
            </a:pPr>
            <a:r>
              <a:t>Cost-Effective: No expensive tests needed—just dietary surveys</a:t>
            </a:r>
          </a:p>
          <a:p>
            <a:pPr lvl="1">
              <a:defRPr sz="1800"/>
            </a:pPr>
            <a:r>
              <a:t>Actionable Insights: Clear targets for lifestyle modification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Limitations:</a:t>
            </a:r>
          </a:p>
          <a:p>
            <a:pPr lvl="1">
              <a:defRPr sz="1600"/>
            </a:pPr>
            <a:r>
              <a:t>Cross-sectional design (no causality claims)</a:t>
            </a:r>
          </a:p>
          <a:p>
            <a:pPr lvl="1">
              <a:defRPr sz="1600"/>
            </a:pPr>
            <a:r>
              <a:t>Self-reported dietary data (24-hour recall)</a:t>
            </a:r>
          </a:p>
          <a:p>
            <a:pPr lvl="1">
              <a:defRPr sz="1600"/>
            </a:pPr>
            <a:r>
              <a:t>Physical activity may be overestimated</a:t>
            </a:r>
          </a:p>
          <a:p>
            <a:pPr lvl="1">
              <a:defRPr sz="1600"/>
            </a:pPr>
            <a:r>
              <a:t>US population only (generalization concerns)</a:t>
            </a:r>
          </a:p>
          <a:p>
            <a:br/>
            <a:pPr>
              <a:defRPr b="1" sz="2000"/>
            </a:pPr>
            <a:r>
              <a:t>Future Directions:</a:t>
            </a:r>
          </a:p>
          <a:p>
            <a:pPr lvl="1">
              <a:defRPr sz="1600"/>
            </a:pPr>
            <a:r>
              <a:t>Longitudinal studies for causation</a:t>
            </a:r>
          </a:p>
          <a:p>
            <a:pPr lvl="1">
              <a:defRPr sz="1600"/>
            </a:pPr>
            <a:r>
              <a:t>Intervention trials to validate predictions</a:t>
            </a:r>
          </a:p>
          <a:p>
            <a:pPr lvl="1">
              <a:defRPr sz="1600"/>
            </a:pPr>
            <a:r>
              <a:t>International dataset validation</a:t>
            </a:r>
          </a:p>
          <a:p>
            <a:pPr lvl="1">
              <a:defRPr sz="1600"/>
            </a:pPr>
            <a:r>
              <a:t>Mobile app deployment for real-time assessment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>
                <a:solidFill>
                  <a:srgbClr val="006400"/>
                </a:solidFill>
              </a:defRPr>
            </a:pPr>
            <a:r>
              <a:t>✓ Successfully predicted obesity from dietary and lifestyle factors</a:t>
            </a:r>
          </a:p>
          <a:p>
            <a:pPr>
              <a:defRPr sz="1800" b="1">
                <a:solidFill>
                  <a:srgbClr val="006400"/>
                </a:solidFill>
              </a:defRPr>
            </a:pPr>
            <a:r>
              <a:t>✓ NO body measurements or lab values needed</a:t>
            </a:r>
          </a:p>
          <a:p>
            <a:pPr>
              <a:defRPr sz="1800" b="1">
                <a:solidFill>
                  <a:srgbClr val="006400"/>
                </a:solidFill>
              </a:defRPr>
            </a:pPr>
            <a:r>
              <a:t>✓ Achieved strong performance (F1 ~0.72, AUC ~0.80)</a:t>
            </a:r>
          </a:p>
          <a:p>
            <a:pPr>
              <a:defRPr sz="1800" b="1">
                <a:solidFill>
                  <a:srgbClr val="006400"/>
                </a:solidFill>
              </a:defRPr>
            </a:pPr>
            <a:r>
              <a:t>✓ Energy balance is the strongest predictor</a:t>
            </a:r>
          </a:p>
          <a:p>
            <a:pPr>
              <a:defRPr sz="1800" b="1">
                <a:solidFill>
                  <a:srgbClr val="006400"/>
                </a:solidFill>
              </a:defRPr>
            </a:pPr>
            <a:r>
              <a:t>✓ Demonstrates modifiable factors predict health outcomes</a:t>
            </a:r>
          </a:p>
          <a:p>
            <a:pPr>
              <a:defRPr sz="1800" b="1">
                <a:solidFill>
                  <a:srgbClr val="006400"/>
                </a:solidFill>
              </a:defRPr>
            </a:pPr>
            <a:r>
              <a:t>✓ Enables early intervention and prevention</a:t>
            </a:r>
          </a:p>
          <a:p>
            <a:pPr>
              <a:defRPr sz="1800" b="1">
                <a:solidFill>
                  <a:srgbClr val="006400"/>
                </a:solidFill>
              </a:defRPr>
            </a:pPr>
            <a:r>
              <a:t>✓ Provides actionable dietary recommendations</a:t>
            </a:r>
          </a:p>
          <a:p>
            <a:br/>
            <a:br/>
            <a:pPr>
              <a:defRPr sz="2000" b="1">
                <a:solidFill>
                  <a:srgbClr val="000080"/>
                </a:solidFill>
              </a:defRPr>
            </a:pPr>
            <a:r>
              <a:t>Proof of Concept: Lifestyle data alone can forecast obesity risk!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/>
            </a:pPr>
            <a:r>
              <a:t>Thank You!</a:t>
            </a:r>
          </a:p>
          <a:p>
            <a:br/>
            <a:pPr algn="ctr">
              <a:defRPr sz="3600"/>
            </a:pPr>
            <a:r>
              <a:t>Questions?</a:t>
            </a:r>
          </a:p>
          <a:p>
            <a:br/>
            <a:br/>
            <a:pPr algn="ctr">
              <a:defRPr sz="2000"/>
            </a:pPr>
            <a:r>
              <a:t>Jenner Dulce • Gable Krich • Francis Ortiz • Christian Webb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